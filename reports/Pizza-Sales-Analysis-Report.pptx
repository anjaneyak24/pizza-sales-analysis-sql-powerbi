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Syne" panose="020B0604020202020204" charset="0"/>
      <p:regular r:id="rId13"/>
    </p:embeddedFont>
    <p:embeddedFont>
      <p:font typeface="Syne Extra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796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ea typeface="Syne Extra Bold" pitchFamily="34" charset="-122"/>
                <a:cs typeface="Syne Extra Bold" pitchFamily="34" charset="-120"/>
              </a:rPr>
              <a:t>Pizza Sales Analysis Report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Comprehensive analysis of pizza sales performance, customer preferences, and revenue trends to drive menu optimization and strategic growth.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5931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ea typeface="Syne Extra Bold" pitchFamily="34" charset="-122"/>
                <a:cs typeface="Syne Extra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143845"/>
            <a:ext cx="33868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ea typeface="Syne Extra Bold" pitchFamily="34" charset="-122"/>
                <a:cs typeface="Syne Extra Bold" pitchFamily="34" charset="-120"/>
              </a:rPr>
              <a:t>Analysis Scope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724989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Evaluation of pizza varieties examining sales trends, revenue patterns, and customer preferences across 48,620 orders.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38067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High-demand and low-demand identification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618577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Average order value analysis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662797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Sales efficiency metrics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3143845"/>
            <a:ext cx="34543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ea typeface="Syne Extra Bold" pitchFamily="34" charset="-122"/>
                <a:cs typeface="Syne Extra Bold" pitchFamily="34" charset="-120"/>
              </a:rPr>
              <a:t>Strategic Goals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342721" y="3724989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Support menu optimization, marketing strategies, and revenue growth through actionable insights.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538067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Data-driven decision making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582287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Performance benchmarking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626506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Customer behavior patterns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2478"/>
            <a:ext cx="126407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ea typeface="Syne Extra Bold" pitchFamily="34" charset="-122"/>
                <a:cs typeface="Syne Extra Bold" pitchFamily="34" charset="-120"/>
              </a:rPr>
              <a:t>Key Performance Indicators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48232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$817K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793790" y="3080028"/>
            <a:ext cx="3048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Total Revenue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25278" y="204823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$38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125278" y="3080028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Average Order Value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56884" y="204823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50K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456884" y="3080028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Total Pizzas Sold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788491" y="204823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21K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30800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Total Orders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791081" y="5217557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$2.3</a:t>
            </a:r>
            <a:endParaRPr lang="en-US" sz="5850" dirty="0"/>
          </a:p>
        </p:txBody>
      </p:sp>
      <p:sp>
        <p:nvSpPr>
          <p:cNvPr id="16" name="Text 14"/>
          <p:cNvSpPr/>
          <p:nvPr/>
        </p:nvSpPr>
        <p:spPr>
          <a:xfrm>
            <a:off x="5791081" y="6249353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Pizzas Per Order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1690"/>
            <a:ext cx="94622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ea typeface="Syne Extra Bold" pitchFamily="34" charset="-122"/>
                <a:cs typeface="Syne Extra Bold" pitchFamily="34" charset="-120"/>
              </a:rPr>
              <a:t>Methodology &amp; Tools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40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ea typeface="Syne Light" pitchFamily="34" charset="-122"/>
                <a:cs typeface="Syn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59142"/>
            <a:ext cx="4196358" cy="3048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833449"/>
            <a:ext cx="35172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Data Collection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323868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Gathered comprehensive pizza sales dataset from GitHub containing 48,620 rows across 12 key variables including orders, products, and sales information.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3040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ea typeface="Syne Light" pitchFamily="34" charset="-122"/>
                <a:cs typeface="Syn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659142"/>
            <a:ext cx="4196358" cy="3048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2833449"/>
            <a:ext cx="32383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323868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Removed duplicates, corrected inconsistencies, standardized formats, and created calculated fields to ensure data quality.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3040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ea typeface="Syne Light" pitchFamily="34" charset="-122"/>
                <a:cs typeface="Syn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659142"/>
            <a:ext cx="4196358" cy="3048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2833449"/>
            <a:ext cx="28785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SQL Analysis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323868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Applied aggregate functions (SUM, COUNT, AVG) with GROUP BY and ORDER BY to generate KPIs and analyze sales trends.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17231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ea typeface="Syne Light" pitchFamily="34" charset="-122"/>
                <a:cs typeface="Syn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527357"/>
            <a:ext cx="6407944" cy="3048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701665"/>
            <a:ext cx="49385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Power BI Visualization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19208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Designed interactive dashboards using KPI cards, charts, and DAX measures for comprehensive insights.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517231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ea typeface="Syne Light" pitchFamily="34" charset="-122"/>
                <a:cs typeface="Syn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527357"/>
            <a:ext cx="6407944" cy="3048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701665"/>
            <a:ext cx="44597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Insights &amp; Reporting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19208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Highlighted sales patterns, identified top and bottom performers, and developed actionable recommendations.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7466"/>
            <a:ext cx="114682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ea typeface="Syne Extra Bold" pitchFamily="34" charset="-122"/>
                <a:cs typeface="Syne Extra Bold" pitchFamily="34" charset="-120"/>
              </a:rPr>
              <a:t>Weekly &amp; Monthly Trends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53220"/>
            <a:ext cx="49434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ea typeface="Syne Extra Bold" pitchFamily="34" charset="-122"/>
                <a:cs typeface="Syne Extra Bold" pitchFamily="34" charset="-120"/>
              </a:rPr>
              <a:t>Weekend Dominance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62701"/>
            <a:ext cx="6244709" cy="34413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625923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A9F00F"/>
                </a:highlight>
                <a:ea typeface="Syne" pitchFamily="34" charset="-122"/>
                <a:cs typeface="Syne" pitchFamily="34" charset="-120"/>
              </a:rPr>
              <a:t>Fridays (3.2K) and Saturdays (3.5K)</a:t>
            </a:r>
            <a:r>
              <a:rPr lang="en-US" sz="175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 show highest order volumes, indicating strong weekend dining preference—perfect for targeted promotions.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1953220"/>
            <a:ext cx="41330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ea typeface="Syne Extra Bold" pitchFamily="34" charset="-122"/>
                <a:cs typeface="Syne Extra Bold" pitchFamily="34" charset="-120"/>
              </a:rPr>
              <a:t>Seasonal Patterns</a:t>
            </a:r>
            <a:endParaRPr lang="en-US" sz="2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521" y="2562701"/>
            <a:ext cx="6244709" cy="32261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99521" y="6043970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A9F00F"/>
                </a:highlight>
                <a:ea typeface="Syne" pitchFamily="34" charset="-122"/>
                <a:cs typeface="Syne" pitchFamily="34" charset="-120"/>
              </a:rPr>
              <a:t>January (1,850) and July (1,940)</a:t>
            </a:r>
            <a:r>
              <a:rPr lang="en-US" sz="175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 are peak months due to New Year gatherings and summer vacations. September shows sharp decline.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62551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ea typeface="Syne Extra Bold" pitchFamily="34" charset="-122"/>
                <a:cs typeface="Syne Extra Bold" pitchFamily="34" charset="-120"/>
              </a:rPr>
              <a:t>Size &amp; Category Distribution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35" y="892969"/>
            <a:ext cx="5143500" cy="403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58102" y="5796201"/>
            <a:ext cx="13949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46%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107" y="5087422"/>
            <a:ext cx="1701165" cy="170116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45124" y="6930271"/>
            <a:ext cx="1421130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Large Pizzas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396835" y="7175421"/>
            <a:ext cx="451770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60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Dominate sales due to better value for groups and families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617494" y="5796201"/>
            <a:ext cx="13949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30%</a:t>
            </a:r>
            <a:endParaRPr lang="en-US" sz="2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498" y="5087422"/>
            <a:ext cx="1701165" cy="17011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48306" y="6930271"/>
            <a:ext cx="173366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Medium Pizzas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5056227" y="7175421"/>
            <a:ext cx="451782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60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Second most popular size choice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1277005" y="5796201"/>
            <a:ext cx="13949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27%</a:t>
            </a:r>
            <a:endParaRPr lang="en-US" sz="2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4009" y="5087422"/>
            <a:ext cx="1701165" cy="17011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015305" y="6930271"/>
            <a:ext cx="191845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Classic Category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9715738" y="7175421"/>
            <a:ext cx="451770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60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Leads all categories with familiar flavors and broad appeal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8334" y="801113"/>
            <a:ext cx="5196840" cy="39319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719310" y="7586424"/>
            <a:ext cx="452175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955" y="467439"/>
            <a:ext cx="7954089" cy="106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0F4F1"/>
                </a:solidFill>
                <a:ea typeface="Syne Extra Bold" pitchFamily="34" charset="-122"/>
                <a:cs typeface="Syne Extra Bold" pitchFamily="34" charset="-120"/>
              </a:rPr>
              <a:t>Top Revenue Performers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94955" y="1784866"/>
            <a:ext cx="7954089" cy="1368385"/>
          </a:xfrm>
          <a:prstGeom prst="roundRect">
            <a:avLst>
              <a:gd name="adj" fmla="val 5218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2478" y="1962388"/>
            <a:ext cx="2211467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 dirty="0">
                <a:solidFill>
                  <a:srgbClr val="FFFFFF"/>
                </a:solidFill>
                <a:ea typeface="Syne Extra Bold" pitchFamily="34" charset="-122"/>
                <a:cs typeface="Syne Extra Bold" pitchFamily="34" charset="-120"/>
              </a:rPr>
              <a:t>Thai Chicken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72478" y="2329934"/>
            <a:ext cx="7599045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ea typeface="Syne" pitchFamily="34" charset="-122"/>
                <a:cs typeface="Syne" pitchFamily="34" charset="-120"/>
              </a:rPr>
              <a:t>$43K revenue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2478" y="2703790"/>
            <a:ext cx="7599045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ea typeface="Syne" pitchFamily="34" charset="-122"/>
                <a:cs typeface="Syne" pitchFamily="34" charset="-120"/>
              </a:rPr>
              <a:t>Premium toppings and popular flavor combinations drive strong performance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955" y="3323153"/>
            <a:ext cx="7954089" cy="1368385"/>
          </a:xfrm>
          <a:prstGeom prst="roundRect">
            <a:avLst>
              <a:gd name="adj" fmla="val 5218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2478" y="3500676"/>
            <a:ext cx="3126700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 dirty="0">
                <a:solidFill>
                  <a:srgbClr val="FFFFFF"/>
                </a:solidFill>
                <a:ea typeface="Syne Extra Bold" pitchFamily="34" charset="-122"/>
                <a:cs typeface="Syne Extra Bold" pitchFamily="34" charset="-120"/>
              </a:rPr>
              <a:t>Barbecue Chicken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72478" y="3868222"/>
            <a:ext cx="7599045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ea typeface="Syne" pitchFamily="34" charset="-122"/>
                <a:cs typeface="Syne" pitchFamily="34" charset="-120"/>
              </a:rPr>
              <a:t>$43K revenue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2478" y="4242078"/>
            <a:ext cx="7599045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ea typeface="Syne" pitchFamily="34" charset="-122"/>
                <a:cs typeface="Syne" pitchFamily="34" charset="-120"/>
              </a:rPr>
              <a:t>Tied for top spot with broad customer appeal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94955" y="4861441"/>
            <a:ext cx="7954089" cy="1368385"/>
          </a:xfrm>
          <a:prstGeom prst="roundRect">
            <a:avLst>
              <a:gd name="adj" fmla="val 5218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478" y="5038963"/>
            <a:ext cx="3113365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 dirty="0">
                <a:solidFill>
                  <a:srgbClr val="FFFFFF"/>
                </a:solidFill>
                <a:ea typeface="Syne Extra Bold" pitchFamily="34" charset="-122"/>
                <a:cs typeface="Syne Extra Bold" pitchFamily="34" charset="-120"/>
              </a:rPr>
              <a:t>California Chicken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72478" y="5406509"/>
            <a:ext cx="7599045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ea typeface="Syne" pitchFamily="34" charset="-122"/>
                <a:cs typeface="Syne" pitchFamily="34" charset="-120"/>
              </a:rPr>
              <a:t>$41K revenue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2478" y="5780365"/>
            <a:ext cx="7599045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ea typeface="Syne" pitchFamily="34" charset="-122"/>
                <a:cs typeface="Syne" pitchFamily="34" charset="-120"/>
              </a:rPr>
              <a:t>Strong third place performance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94955" y="6399728"/>
            <a:ext cx="7954089" cy="1368385"/>
          </a:xfrm>
          <a:prstGeom prst="roundRect">
            <a:avLst>
              <a:gd name="adj" fmla="val 5218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2478" y="6577251"/>
            <a:ext cx="2480786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 dirty="0">
                <a:solidFill>
                  <a:srgbClr val="FFFFFF"/>
                </a:solidFill>
                <a:ea typeface="Syne Extra Bold" pitchFamily="34" charset="-122"/>
                <a:cs typeface="Syne Extra Bold" pitchFamily="34" charset="-120"/>
              </a:rPr>
              <a:t>Classic Deluxe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72478" y="6944797"/>
            <a:ext cx="7599045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ea typeface="Syne" pitchFamily="34" charset="-122"/>
                <a:cs typeface="Syne" pitchFamily="34" charset="-120"/>
              </a:rPr>
              <a:t>$38K revenue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72478" y="7318653"/>
            <a:ext cx="7599045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ea typeface="Syne" pitchFamily="34" charset="-122"/>
                <a:cs typeface="Syne" pitchFamily="34" charset="-120"/>
              </a:rPr>
              <a:t>Highest volume seller with 2.5K units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22828" y="593884"/>
            <a:ext cx="7698343" cy="129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F0F4F1"/>
                </a:solidFill>
                <a:ea typeface="Syne Extra Bold" pitchFamily="34" charset="-122"/>
                <a:cs typeface="Syne Extra Bold" pitchFamily="34" charset="-120"/>
              </a:rPr>
              <a:t>Underperforming Products</a:t>
            </a:r>
            <a:endParaRPr lang="en-US" sz="4050" dirty="0"/>
          </a:p>
        </p:txBody>
      </p:sp>
      <p:sp>
        <p:nvSpPr>
          <p:cNvPr id="11" name="Shape 7"/>
          <p:cNvSpPr/>
          <p:nvPr/>
        </p:nvSpPr>
        <p:spPr>
          <a:xfrm>
            <a:off x="877535" y="4826175"/>
            <a:ext cx="12086110" cy="1601284"/>
          </a:xfrm>
          <a:prstGeom prst="roundRect">
            <a:avLst>
              <a:gd name="adj" fmla="val 3124"/>
            </a:avLst>
          </a:prstGeom>
          <a:solidFill>
            <a:srgbClr val="33480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424" y="5432695"/>
            <a:ext cx="258128" cy="20645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9439" y="5362121"/>
            <a:ext cx="11309012" cy="633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ea typeface="Syne" pitchFamily="34" charset="-122"/>
                <a:cs typeface="Syne" pitchFamily="34" charset="-120"/>
              </a:rPr>
              <a:t>Key Finding:</a:t>
            </a:r>
            <a:r>
              <a:rPr lang="en-US" sz="1600" dirty="0">
                <a:solidFill>
                  <a:srgbClr val="FFFFFF"/>
                </a:solidFill>
                <a:ea typeface="Syne" pitchFamily="34" charset="-122"/>
                <a:cs typeface="Syne" pitchFamily="34" charset="-120"/>
              </a:rPr>
              <a:t> Low revenues suggest limited customer appeal, possibly due to vegetarian focus, niche flavors, or lack of promotion compared to popular meat-based options.</a:t>
            </a:r>
            <a:endParaRPr lang="en-US" sz="1600" dirty="0"/>
          </a:p>
        </p:txBody>
      </p:sp>
      <p:pic>
        <p:nvPicPr>
          <p:cNvPr id="14" name="object 5">
            <a:extLst>
              <a:ext uri="{FF2B5EF4-FFF2-40B4-BE49-F238E27FC236}">
                <a16:creationId xmlns:a16="http://schemas.microsoft.com/office/drawing/2014/main" id="{747E0699-A954-25FA-1240-744BE2442A1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9650" y="1545868"/>
            <a:ext cx="5320534" cy="2973574"/>
          </a:xfrm>
          <a:prstGeom prst="rect">
            <a:avLst/>
          </a:prstGeom>
        </p:spPr>
      </p:pic>
      <p:pic>
        <p:nvPicPr>
          <p:cNvPr id="15" name="object 12">
            <a:extLst>
              <a:ext uri="{FF2B5EF4-FFF2-40B4-BE49-F238E27FC236}">
                <a16:creationId xmlns:a16="http://schemas.microsoft.com/office/drawing/2014/main" id="{DCBE5EEC-FAEF-7AE4-0C4D-568F20FB3C0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43111" y="1545868"/>
            <a:ext cx="5320534" cy="29735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071" y="764858"/>
            <a:ext cx="7384494" cy="676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F0F4F1"/>
                </a:solidFill>
                <a:ea typeface="Syne Extra Bold" pitchFamily="34" charset="-122"/>
                <a:cs typeface="Syne Extra Bold" pitchFamily="34" charset="-120"/>
              </a:rPr>
              <a:t>Strategic Insights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58071" y="1874877"/>
            <a:ext cx="4226957" cy="2686645"/>
          </a:xfrm>
          <a:prstGeom prst="roundRect">
            <a:avLst>
              <a:gd name="adj" fmla="val 5446"/>
            </a:avLst>
          </a:prstGeom>
          <a:solidFill>
            <a:srgbClr val="152025">
              <a:alpha val="95000"/>
            </a:srgbClr>
          </a:solidFill>
          <a:ln w="30480">
            <a:solidFill>
              <a:srgbClr val="6D91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7591" y="1874877"/>
            <a:ext cx="121920" cy="2686645"/>
          </a:xfrm>
          <a:prstGeom prst="roundRect">
            <a:avLst>
              <a:gd name="adj" fmla="val 74616"/>
            </a:avLst>
          </a:prstGeom>
          <a:solidFill>
            <a:srgbClr val="A9F00F"/>
          </a:solidFill>
          <a:ln/>
        </p:spPr>
      </p:sp>
      <p:sp>
        <p:nvSpPr>
          <p:cNvPr id="5" name="Text 3"/>
          <p:cNvSpPr/>
          <p:nvPr/>
        </p:nvSpPr>
        <p:spPr>
          <a:xfrm>
            <a:off x="1096566" y="2121932"/>
            <a:ext cx="3641408" cy="676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Revenue Concentration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96566" y="2928580"/>
            <a:ext cx="3641408" cy="138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Top five pizzas drive majority of revenue—Thai Chicken and Barbecue Chicken are critical premium performers generating $43K each.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01603" y="1874877"/>
            <a:ext cx="4227076" cy="2686645"/>
          </a:xfrm>
          <a:prstGeom prst="roundRect">
            <a:avLst>
              <a:gd name="adj" fmla="val 5446"/>
            </a:avLst>
          </a:prstGeom>
          <a:solidFill>
            <a:srgbClr val="152025">
              <a:alpha val="95000"/>
            </a:srgbClr>
          </a:solidFill>
          <a:ln w="30480">
            <a:solidFill>
              <a:srgbClr val="6D912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71123" y="1874877"/>
            <a:ext cx="121920" cy="2686645"/>
          </a:xfrm>
          <a:prstGeom prst="roundRect">
            <a:avLst>
              <a:gd name="adj" fmla="val 74616"/>
            </a:avLst>
          </a:prstGeom>
          <a:solidFill>
            <a:srgbClr val="A9F00F"/>
          </a:solidFill>
          <a:ln/>
        </p:spPr>
      </p:sp>
      <p:sp>
        <p:nvSpPr>
          <p:cNvPr id="9" name="Text 7"/>
          <p:cNvSpPr/>
          <p:nvPr/>
        </p:nvSpPr>
        <p:spPr>
          <a:xfrm>
            <a:off x="5540097" y="2121932"/>
            <a:ext cx="3254931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Volume Leader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540097" y="2590205"/>
            <a:ext cx="3641527" cy="138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Classic Deluxe Pizza records highest units sold at 2.5K, outselling all competitors in volume despite lower per-unit pricing.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45253" y="1874877"/>
            <a:ext cx="4227076" cy="2686645"/>
          </a:xfrm>
          <a:prstGeom prst="roundRect">
            <a:avLst>
              <a:gd name="adj" fmla="val 5446"/>
            </a:avLst>
          </a:prstGeom>
          <a:solidFill>
            <a:srgbClr val="152025">
              <a:alpha val="95000"/>
            </a:srgbClr>
          </a:solidFill>
          <a:ln w="30480">
            <a:solidFill>
              <a:srgbClr val="6D912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14773" y="1874877"/>
            <a:ext cx="121920" cy="2686645"/>
          </a:xfrm>
          <a:prstGeom prst="roundRect">
            <a:avLst>
              <a:gd name="adj" fmla="val 74616"/>
            </a:avLst>
          </a:prstGeom>
          <a:solidFill>
            <a:srgbClr val="A9F00F"/>
          </a:solidFill>
          <a:ln/>
        </p:spPr>
      </p:sp>
      <p:sp>
        <p:nvSpPr>
          <p:cNvPr id="13" name="Text 11"/>
          <p:cNvSpPr/>
          <p:nvPr/>
        </p:nvSpPr>
        <p:spPr>
          <a:xfrm>
            <a:off x="9983748" y="2121932"/>
            <a:ext cx="3400544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Size Preference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983748" y="2590205"/>
            <a:ext cx="3641527" cy="138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Large pizzas represent 46% of all sales—nearly half—indicating strong family and group ordering patterns with upselling opportunities.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8071" y="4778097"/>
            <a:ext cx="4226957" cy="2686645"/>
          </a:xfrm>
          <a:prstGeom prst="roundRect">
            <a:avLst>
              <a:gd name="adj" fmla="val 5446"/>
            </a:avLst>
          </a:prstGeom>
          <a:solidFill>
            <a:srgbClr val="152025">
              <a:alpha val="95000"/>
            </a:srgbClr>
          </a:solidFill>
          <a:ln w="30480">
            <a:solidFill>
              <a:srgbClr val="6D912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7591" y="4778097"/>
            <a:ext cx="121920" cy="2686645"/>
          </a:xfrm>
          <a:prstGeom prst="roundRect">
            <a:avLst>
              <a:gd name="adj" fmla="val 74616"/>
            </a:avLst>
          </a:prstGeom>
          <a:solidFill>
            <a:srgbClr val="A9F00F"/>
          </a:solidFill>
          <a:ln/>
        </p:spPr>
      </p:sp>
      <p:sp>
        <p:nvSpPr>
          <p:cNvPr id="17" name="Text 15"/>
          <p:cNvSpPr/>
          <p:nvPr/>
        </p:nvSpPr>
        <p:spPr>
          <a:xfrm>
            <a:off x="1096566" y="5025152"/>
            <a:ext cx="3309342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Weekend Peak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96566" y="5493425"/>
            <a:ext cx="3641408" cy="138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Fridays and Saturdays account for majority of orders (3.2K-3.5K), with January and July showing peak monthly volumes.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201603" y="4778097"/>
            <a:ext cx="4227076" cy="2686645"/>
          </a:xfrm>
          <a:prstGeom prst="roundRect">
            <a:avLst>
              <a:gd name="adj" fmla="val 5446"/>
            </a:avLst>
          </a:prstGeom>
          <a:solidFill>
            <a:srgbClr val="152025">
              <a:alpha val="95000"/>
            </a:srgbClr>
          </a:solidFill>
          <a:ln w="30480">
            <a:solidFill>
              <a:srgbClr val="6D912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71123" y="4778097"/>
            <a:ext cx="121920" cy="2686645"/>
          </a:xfrm>
          <a:prstGeom prst="roundRect">
            <a:avLst>
              <a:gd name="adj" fmla="val 74616"/>
            </a:avLst>
          </a:prstGeom>
          <a:solidFill>
            <a:srgbClr val="A9F00F"/>
          </a:solidFill>
          <a:ln/>
        </p:spPr>
      </p:sp>
      <p:sp>
        <p:nvSpPr>
          <p:cNvPr id="21" name="Text 19"/>
          <p:cNvSpPr/>
          <p:nvPr/>
        </p:nvSpPr>
        <p:spPr>
          <a:xfrm>
            <a:off x="5540097" y="5025152"/>
            <a:ext cx="3641527" cy="676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Seasonal Decline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540097" y="5831800"/>
            <a:ext cx="3641527" cy="138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September experiences sharp sales drop, presenting opportunity for targeted off-season promotional campaigns.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366" y="881420"/>
            <a:ext cx="11269742" cy="575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0F4F1"/>
                </a:solidFill>
                <a:ea typeface="Syne Extra Bold" pitchFamily="34" charset="-122"/>
                <a:cs typeface="Syne Extra Bold" pitchFamily="34" charset="-120"/>
              </a:rPr>
              <a:t>Actionable Recommendations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66" y="1824871"/>
            <a:ext cx="920591" cy="11046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49028" y="2008942"/>
            <a:ext cx="4671298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Focus Marketing on Top 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749028" y="2406968"/>
            <a:ext cx="12237006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Prioritize promotional efforts on Thai Chicken, Barbecue Chicken, California Chicken, Classic Deluxe, and Spicy Italian to maximize ROI.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66" y="2929533"/>
            <a:ext cx="920591" cy="11046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49028" y="3113603"/>
            <a:ext cx="4603433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Create Premium Bundles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749028" y="3511629"/>
            <a:ext cx="12237006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Upsell high-revenue pizzas through value-added combos with sides and beverages, especially targeting Large size preference.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366" y="4034195"/>
            <a:ext cx="920591" cy="11046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49028" y="4218265"/>
            <a:ext cx="5750123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Optimize Weekend Campaigns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749028" y="4616291"/>
            <a:ext cx="12237006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Launch special Friday-Saturday promotions and strategically plan inventory and staffing for January and July demand surges.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366" y="5138857"/>
            <a:ext cx="920591" cy="11046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49028" y="5322927"/>
            <a:ext cx="4916210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Address September Slump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749028" y="5720953"/>
            <a:ext cx="12237006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Implement targeted promotions like "Back to Work" campaigns, discounts, or new flavor launches to mitigate seasonal decline.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366" y="6243518"/>
            <a:ext cx="920591" cy="110466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49028" y="6427589"/>
            <a:ext cx="4619506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7E5D8"/>
                </a:solidFill>
                <a:ea typeface="Syne Extra Bold" pitchFamily="34" charset="-122"/>
                <a:cs typeface="Syne Extra Bold" pitchFamily="34" charset="-120"/>
              </a:rPr>
              <a:t>Review Underperformers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749028" y="6825615"/>
            <a:ext cx="12237006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Evaluate Brie Carre and bottom performers for menu repositioning, revamping, or removal to optimize overall profitability.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639</Words>
  <Application>Microsoft Office PowerPoint</Application>
  <PresentationFormat>Custom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Syne</vt:lpstr>
      <vt:lpstr>Arial</vt:lpstr>
      <vt:lpstr>Syne Extra Bold</vt:lpstr>
      <vt:lpstr>Syne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Naresh Kumbar</cp:lastModifiedBy>
  <cp:revision>21</cp:revision>
  <dcterms:created xsi:type="dcterms:W3CDTF">2025-12-05T18:30:52Z</dcterms:created>
  <dcterms:modified xsi:type="dcterms:W3CDTF">2025-12-06T08:23:23Z</dcterms:modified>
</cp:coreProperties>
</file>